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6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A5F"/>
                </a:solidFill>
                <a:latin typeface="Arial"/>
              </a:rPr>
              <a:t>Daily News Volume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</c:v>
                </c:pt>
              </c:strCache>
            </c:strRef>
          </c:tx>
          <c:spPr>
            <a:solidFill>
              <a:srgbClr val="1F6A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  <c:pt idx="3">
                  <c:v>Feb 13</c:v>
                </c:pt>
                <c:pt idx="4">
                  <c:v>Feb 14</c:v>
                </c:pt>
                <c:pt idx="5">
                  <c:v>Feb 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4-468E-9B26-6C8F0ED79D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Rawalpindi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  <c:pt idx="3">
                  <c:v>Feb 13</c:v>
                </c:pt>
                <c:pt idx="4">
                  <c:v>Feb 14</c:v>
                </c:pt>
                <c:pt idx="5">
                  <c:v>Feb 15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04-468E-9B26-6C8F0ED79D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F3A5F"/>
                </a:solidFill>
                <a:latin typeface="Arial"/>
              </a:rPr>
              <a:t>Lahore News Sentiment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AE3-4E28-BCBE-1419C0639389}"/>
              </c:ext>
            </c:extLst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AE3-4E28-BCBE-1419C0639389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AE3-4E28-BCBE-1419C063938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3-4E28-BCBE-1419C063938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3-4E28-BCBE-1419C063938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3-4E28-BCBE-1419C063938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8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AE3-4E28-BCBE-1419C0639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F3A5F"/>
                </a:solidFill>
                <a:latin typeface="Arial"/>
              </a:rPr>
              <a:t>Pindi Sentiment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52-487C-9FCD-EB050E731189}"/>
              </c:ext>
            </c:extLst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52-487C-9FCD-EB050E73118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52-487C-9FCD-EB050E73118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52-487C-9FCD-EB050E73118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Negative</c:v>
                </c:pt>
                <c:pt idx="1">
                  <c:v>Neutral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52-487C-9FCD-EB050E7311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F3A5F"/>
                </a:solidFill>
                <a:latin typeface="Arial"/>
              </a:rPr>
              <a:t>Lahore: Daily Mean News Sentiment Score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 (News)</c:v>
                </c:pt>
              </c:strCache>
            </c:strRef>
          </c:tx>
          <c:spPr>
            <a:ln w="31750" cap="flat">
              <a:solidFill>
                <a:srgbClr val="1F6A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6AA5"/>
              </a:solidFill>
              <a:ln w="9525" cap="flat">
                <a:solidFill>
                  <a:srgbClr val="1F6AA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-0.4</c:v>
                </c:pt>
                <c:pt idx="1">
                  <c:v>0.3</c:v>
                </c:pt>
                <c:pt idx="2">
                  <c:v>-0.67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EFC-4293-BFA3-9F101E37BA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A5F"/>
                </a:solidFill>
                <a:latin typeface="Arial"/>
              </a:rPr>
              <a:t>Daily Social Post Volume (in-window)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</c:v>
                </c:pt>
              </c:strCache>
            </c:strRef>
          </c:tx>
          <c:spPr>
            <a:solidFill>
              <a:srgbClr val="1F6A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  <c:pt idx="3">
                  <c:v>Feb 13</c:v>
                </c:pt>
                <c:pt idx="4">
                  <c:v>Feb 14</c:v>
                </c:pt>
                <c:pt idx="5">
                  <c:v>Feb 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2-4905-BC33-C647767396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Rawalpindi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  <c:pt idx="3">
                  <c:v>Feb 13</c:v>
                </c:pt>
                <c:pt idx="4">
                  <c:v>Feb 14</c:v>
                </c:pt>
                <c:pt idx="5">
                  <c:v>Feb 15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12-4905-BC33-C647767396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A5F"/>
                </a:solidFill>
                <a:latin typeface="Arial"/>
              </a:rPr>
              <a:t>Social Sentiment Distribution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Lahore</c:v>
                </c:pt>
                <c:pt idx="1">
                  <c:v>Rawalpindi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EA-4610-84BA-4FFE6DE936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Lahore</c:v>
                </c:pt>
                <c:pt idx="1">
                  <c:v>Rawalpindi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EA-4610-84BA-4FFE6DE936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Lahore</c:v>
                </c:pt>
                <c:pt idx="1">
                  <c:v>Rawalpindi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EA-4610-84BA-4FFE6DE936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F3A5F"/>
                </a:solidFill>
                <a:latin typeface="Arial"/>
              </a:rPr>
              <a:t>Mean Sentiment: News vs Social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News Sentiment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Lahore</c:v>
                </c:pt>
                <c:pt idx="1">
                  <c:v>Rawalpindi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-0.38</c:v>
                </c:pt>
                <c:pt idx="1">
                  <c:v>-0.7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D2-4E34-9B57-66154F86AD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Social Sentiment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Lahore</c:v>
                </c:pt>
                <c:pt idx="1">
                  <c:v>Rawalpindi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0.38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D2-4E34-9B57-66154F86AD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1F3A5F"/>
                </a:solidFill>
                <a:latin typeface="Arial"/>
              </a:rPr>
              <a:t>Temperature (°C)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9.7152088325915792E-2"/>
          <c:y val="0.2524581061982637"/>
          <c:w val="0.86963535128761071"/>
          <c:h val="0.30664830373183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</c:v>
                </c:pt>
              </c:strCache>
            </c:strRef>
          </c:tx>
          <c:spPr>
            <a:ln w="31750" cap="flat">
              <a:solidFill>
                <a:srgbClr val="1F6A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6AA5"/>
              </a:solidFill>
              <a:ln w="9525" cap="flat">
                <a:solidFill>
                  <a:srgbClr val="1F6AA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16.88</c:v>
                </c:pt>
                <c:pt idx="1">
                  <c:v>17.260000000000002</c:v>
                </c:pt>
                <c:pt idx="2">
                  <c:v>17.440000000000001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A2E-47EB-8DC4-45C4575C36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Rawalpindi</c:v>
                </c:pt>
              </c:strCache>
            </c:strRef>
          </c:tx>
          <c:spPr>
            <a:ln w="31750" cap="flat">
              <a:solidFill>
                <a:srgbClr val="E05A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A2B"/>
              </a:solidFill>
              <a:ln w="9525" cap="flat">
                <a:solidFill>
                  <a:srgbClr val="E05A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13</c:v>
                </c:pt>
                <c:pt idx="1">
                  <c:v>Feb 14</c:v>
                </c:pt>
                <c:pt idx="2">
                  <c:v>Feb 15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14.7</c:v>
                </c:pt>
                <c:pt idx="1">
                  <c:v>15.15</c:v>
                </c:pt>
                <c:pt idx="2">
                  <c:v>15.49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A2E-47EB-8DC4-45C4575C36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754474304842327"/>
          <c:y val="0.8419651834943267"/>
          <c:w val="0.3849105139031534"/>
          <c:h val="9.751337905005171E-2"/>
        </c:manualLayout>
      </c:layout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1F3A5F"/>
                </a:solidFill>
                <a:latin typeface="Arial"/>
              </a:rPr>
              <a:t>Wind Speed (km/h)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9.4240218519196742E-2"/>
          <c:y val="0.22826748251470544"/>
          <c:w val="0.87023006571852934"/>
          <c:h val="0.400325481431355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</c:v>
                </c:pt>
              </c:strCache>
            </c:strRef>
          </c:tx>
          <c:spPr>
            <a:ln w="31750" cap="flat">
              <a:solidFill>
                <a:srgbClr val="1F6A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6AA5"/>
              </a:solidFill>
              <a:ln w="9525" cap="flat">
                <a:solidFill>
                  <a:srgbClr val="1F6AA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6.87</c:v>
                </c:pt>
                <c:pt idx="1">
                  <c:v>11.8</c:v>
                </c:pt>
                <c:pt idx="2">
                  <c:v>8.7200000000000006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3E-449F-A17B-3B9878DBD7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Rawalpindi</c:v>
                </c:pt>
              </c:strCache>
            </c:strRef>
          </c:tx>
          <c:spPr>
            <a:ln w="31750" cap="flat">
              <a:solidFill>
                <a:srgbClr val="E05A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A2B"/>
              </a:solidFill>
              <a:ln w="9525" cap="flat">
                <a:solidFill>
                  <a:srgbClr val="E05A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13</c:v>
                </c:pt>
                <c:pt idx="1">
                  <c:v>Feb 14</c:v>
                </c:pt>
                <c:pt idx="2">
                  <c:v>Feb 15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6.67</c:v>
                </c:pt>
                <c:pt idx="1">
                  <c:v>10.36</c:v>
                </c:pt>
                <c:pt idx="2">
                  <c:v>8.35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C3E-449F-A17B-3B9878DBD7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411763209831332"/>
          <c:y val="0.8419651834943267"/>
          <c:w val="0.41176473580337342"/>
          <c:h val="9.751337905005171E-2"/>
        </c:manualLayout>
      </c:layout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A5F"/>
                </a:solidFill>
                <a:latin typeface="Arial"/>
              </a:rPr>
              <a:t>Lahore: Daily Incident 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 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F44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63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E9-4882-B2DB-1BD0054206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A5F"/>
                </a:solidFill>
                <a:latin typeface="Arial"/>
              </a:rPr>
              <a:t>Incident Counts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</c:v>
                </c:pt>
              </c:strCache>
            </c:strRef>
          </c:tx>
          <c:spPr>
            <a:solidFill>
              <a:srgbClr val="1F6A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Fatality</c:v>
                </c:pt>
                <c:pt idx="1">
                  <c:v>Physical Injury</c:v>
                </c:pt>
                <c:pt idx="2">
                  <c:v>Infrastructure</c:v>
                </c:pt>
                <c:pt idx="3">
                  <c:v>Law Enforcement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133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69-424B-B7F9-E149107CDE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Rawalpindi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Fatality</c:v>
                </c:pt>
                <c:pt idx="1">
                  <c:v>Physical Injury</c:v>
                </c:pt>
                <c:pt idx="2">
                  <c:v>Infrastructure</c:v>
                </c:pt>
                <c:pt idx="3">
                  <c:v>Law Enforcement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11</c:v>
                </c:pt>
                <c:pt idx="2">
                  <c:v>1</c:v>
                </c:pt>
                <c:pt idx="3">
                  <c:v>4460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69-424B-B7F9-E149107CDE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F3A5F"/>
                </a:solidFill>
                <a:latin typeface="Arial"/>
              </a:rPr>
              <a:t>Image Crowd Level Labels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</c:v>
                </c:pt>
              </c:strCache>
            </c:strRef>
          </c:tx>
          <c:spPr>
            <a:solidFill>
              <a:srgbClr val="1F6A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E-4273-B252-D66EE701D8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Rawalpindi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7E-4273-B252-D66EE701D8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F3A5F"/>
                </a:solidFill>
                <a:latin typeface="Arial"/>
              </a:rPr>
              <a:t>Video Platform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Platform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A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EF-4272-A79B-3545EB1C83F8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EF-4272-A79B-3545EB1C83F8}"/>
              </c:ext>
            </c:extLst>
          </c:dPt>
          <c:dPt>
            <c:idx val="2"/>
            <c:bubble3D val="0"/>
            <c:spPr>
              <a:solidFill>
                <a:srgbClr val="E05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EF-4272-A79B-3545EB1C83F8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EF-4272-A79B-3545EB1C83F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EF-4272-A79B-3545EB1C83F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EF-4272-A79B-3545EB1C83F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EF-4272-A79B-3545EB1C83F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EF-4272-A79B-3545EB1C83F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YouTube</c:v>
                </c:pt>
                <c:pt idx="1">
                  <c:v>Urdupoint</c:v>
                </c:pt>
                <c:pt idx="2">
                  <c:v>Facebook</c:v>
                </c:pt>
                <c:pt idx="3">
                  <c:v>Instagram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EEF-4272-A79B-3545EB1C83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F3A5F"/>
                </a:solidFill>
                <a:latin typeface="Arial"/>
              </a:rPr>
              <a:t>Duration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Videos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short (&lt;1 min)</c:v>
                </c:pt>
                <c:pt idx="1">
                  <c:v>medium (1–5 min)</c:v>
                </c:pt>
                <c:pt idx="2">
                  <c:v>long (&gt;5 min)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B-477B-B440-97EDD0065A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50" b="0" i="0" u="none" strike="noStrike">
                <a:solidFill>
                  <a:srgbClr val="1F3A5F"/>
                </a:solidFill>
                <a:latin typeface="Arial"/>
              </a:rPr>
              <a:t>Media Coverage Volumes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Lahore</c:v>
                </c:pt>
              </c:strCache>
            </c:strRef>
          </c:tx>
          <c:spPr>
            <a:solidFill>
              <a:srgbClr val="1F6A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Social Posts</c:v>
                </c:pt>
                <c:pt idx="1">
                  <c:v>News Articles</c:v>
                </c:pt>
                <c:pt idx="2">
                  <c:v>Images</c:v>
                </c:pt>
                <c:pt idx="3">
                  <c:v>Videos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23</c:v>
                </c:pt>
                <c:pt idx="2">
                  <c:v>17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E-4176-B525-8E7AE57FFD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Rawalpindi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Social Posts</c:v>
                </c:pt>
                <c:pt idx="1">
                  <c:v>News Articles</c:v>
                </c:pt>
                <c:pt idx="2">
                  <c:v>Images</c:v>
                </c:pt>
                <c:pt idx="3">
                  <c:v>Videos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2E-4176-B525-8E7AE57FFD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050" b="0" i="0" u="none" strike="noStrike">
                <a:solidFill>
                  <a:srgbClr val="1F3A5F"/>
                </a:solidFill>
                <a:latin typeface="Arial"/>
              </a:rPr>
              <a:t>Sentiment: News vs Social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News Sentiment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Lahore</c:v>
                </c:pt>
                <c:pt idx="1">
                  <c:v>Rawalpindi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-0.38</c:v>
                </c:pt>
                <c:pt idx="1">
                  <c:v>-0.7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AA-4CFF-B9E1-9E8BF2D3E9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Social Sentiment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Lahore</c:v>
                </c:pt>
                <c:pt idx="1">
                  <c:v>Rawalpindi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0.38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AA-4CFF-B9E1-9E8BF2D3E9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1F3A5F"/>
                </a:solidFill>
                <a:latin typeface="Arial"/>
              </a:rPr>
              <a:t>Lahore: Content Volume vs Incident Count (Cross-Modal)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Social Posts</c:v>
                </c:pt>
              </c:strCache>
            </c:strRef>
          </c:tx>
          <c:spPr>
            <a:ln w="31750" cap="flat">
              <a:solidFill>
                <a:srgbClr val="1F6A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6AA5"/>
              </a:solidFill>
              <a:ln w="9525" cap="flat">
                <a:solidFill>
                  <a:srgbClr val="1F6AA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35F-42A4-A392-D4F45DDE0E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News Articles</c:v>
                </c:pt>
              </c:strCache>
            </c:strRef>
          </c:tx>
          <c:spPr>
            <a:ln w="31750" cap="flat">
              <a:solidFill>
                <a:srgbClr val="5DADE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DADE2"/>
              </a:solidFill>
              <a:ln w="9525" cap="flat">
                <a:solidFill>
                  <a:srgbClr val="5DADE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35F-42A4-A392-D4F45DDE0E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Incidents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6</c:v>
                </c:pt>
                <c:pt idx="1">
                  <c:v>Feb 7</c:v>
                </c:pt>
                <c:pt idx="2">
                  <c:v>Feb 8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63</c:v>
                </c:pt>
                <c:pt idx="2">
                  <c:v>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35F-42A4-A392-D4F45DDE0E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403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206240" y="274320"/>
            <a:ext cx="1097280" cy="10972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1645920"/>
            <a:ext cx="1645920" cy="164592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0" y="2926080"/>
            <a:ext cx="822960" cy="822960"/>
          </a:xfrm>
          <a:prstGeom prst="ellipse">
            <a:avLst/>
          </a:prstGeom>
          <a:solidFill>
            <a:srgbClr val="E05A2B">
              <a:alpha val="25000"/>
            </a:srgbClr>
          </a:solidFill>
          <a:ln w="12700">
            <a:solidFill>
              <a:srgbClr val="E05A2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401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Science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Basant 2026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Analysis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7315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 ×  Rawalpindi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6–8 &amp; Feb 13–15,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Modalities  •  28 News Articles  •  30 Social Posts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QC Checks  •  26 Visualisations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0" y="11887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F6AA5">
              <a:alpha val="85000"/>
            </a:srgbClr>
          </a:solidFill>
          <a:ln w="12700">
            <a:solidFill>
              <a:srgbClr val="1F6AA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News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6B21A8">
              <a:alpha val="85000"/>
            </a:srgbClr>
          </a:solidFill>
          <a:ln w="12700">
            <a:solidFill>
              <a:srgbClr val="6B21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Social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18745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Weather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18745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Incidents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25603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Images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25603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0369A1">
              <a:alpha val="85000"/>
            </a:srgbClr>
          </a:solidFill>
          <a:ln w="12700">
            <a:solidFill>
              <a:srgbClr val="0369A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23360" y="4663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SEECS  |  BSDS 02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85166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DATASET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297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Collected — 6 Modalities Across 2 Cities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15087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2435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76072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outlets · Lahore 23 / Pindi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078992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078992"/>
            <a:ext cx="54864" cy="15087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0712" y="12435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10712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Posts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· Instagram · Twitter/X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078992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078992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5352" y="12435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45352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Records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city-days · dual-source validated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278892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29535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76072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Records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" y="3867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+ Media sourced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788920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278892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10712" y="29535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410712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10712" y="3867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metadata · 13 news outlets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2788920"/>
            <a:ext cx="2514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2788920"/>
            <a:ext cx="54864" cy="1508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45352" y="29535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245352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45352" y="3867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Urdupoint · metadata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Quality Control Checks  •  18 Pass  •  2 Flag  •  1 Average  •  All 6 minimum sample requirements MET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746504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MODALITY: NEWS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Coverage — Volume, Sentiment &amp; Outlets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articles · 12 outlets · Lahore 82% · Rawalpindi 18%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078992"/>
          <a:ext cx="42976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892040" y="1078992"/>
          <a:ext cx="20574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/>
          <p:cNvGraphicFramePr/>
          <p:nvPr/>
        </p:nvGraphicFramePr>
        <p:xfrm>
          <a:off x="7132320" y="1078992"/>
          <a:ext cx="1600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3"/>
          <p:cNvGraphicFramePr/>
          <p:nvPr>
            <p:extLst>
              <p:ext uri="{D42A27DB-BD31-4B8C-83A1-F6EECF244321}">
                <p14:modId xmlns:p14="http://schemas.microsoft.com/office/powerpoint/2010/main" val="832672739"/>
              </p:ext>
            </p:extLst>
          </p:nvPr>
        </p:nvGraphicFramePr>
        <p:xfrm>
          <a:off x="411480" y="3436034"/>
          <a:ext cx="42976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Shape 5"/>
          <p:cNvSpPr/>
          <p:nvPr/>
        </p:nvSpPr>
        <p:spPr>
          <a:xfrm>
            <a:off x="4892040" y="342900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502920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1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029200" y="378561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 inversely tracks incident escalation in Lahore. Day 1 (−0.40) → Day 2 (+0.30, cultural coverage) → Day 3 (−0.67, incident toll dominates). Rawalpindi news was 100% negative — exclusively crackdown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58775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MODALITY: SOCIAL MEDIA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— Platforms, Volume &amp; Sentiment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posts · Facebook 50% · Instagram 33% · Twitter/X 17%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078992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09160" y="1078992"/>
          <a:ext cx="4023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/>
          <p:cNvGraphicFramePr/>
          <p:nvPr/>
        </p:nvGraphicFramePr>
        <p:xfrm>
          <a:off x="411480" y="3364992"/>
          <a:ext cx="502920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623560" y="3364992"/>
            <a:ext cx="3108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576072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2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760720" y="3712464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and news present opposite views. The news-social sentiment gap is 0.76 pts for Lahore and 1.25 pts for Rawalpindi — despite a ban, Pindi social posts were the most positive of all.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6197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2061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MODALITY: WEATHER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Suitability — Rule-Based Scoring (0–100)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validation · open-meteo.com + visualcrossing.com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 —  EXCELLENT  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6642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Rawalpindi  —  EXCELLENT  🌟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40280"/>
          <a:ext cx="832104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Cities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10–25 °C  (optimal kite-flying)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16.9–17.4 °C  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5–25 km/h  (Beaufort 2–4)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6.7–11.8 km/h 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mm  (dry)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mm on all days 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3413181948"/>
              </p:ext>
            </p:extLst>
          </p:nvPr>
        </p:nvGraphicFramePr>
        <p:xfrm>
          <a:off x="370332" y="3632982"/>
          <a:ext cx="4206240" cy="1259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"/>
          <p:cNvGraphicFramePr/>
          <p:nvPr>
            <p:extLst>
              <p:ext uri="{D42A27DB-BD31-4B8C-83A1-F6EECF244321}">
                <p14:modId xmlns:p14="http://schemas.microsoft.com/office/powerpoint/2010/main" val="2342770534"/>
              </p:ext>
            </p:extLst>
          </p:nvPr>
        </p:nvGraphicFramePr>
        <p:xfrm>
          <a:off x="4800600" y="3678702"/>
          <a:ext cx="3931920" cy="1259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272284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2272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MODALITY: INCIDENTS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Taxonomy — Safety Failures vs Enforcement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records · Official + Media sourced · Deduplication applied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10972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Injury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0972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097280"/>
            <a:ext cx="1920240" cy="5486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0" y="1097280"/>
            <a:ext cx="1920240" cy="54864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4,460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Rawalpindi</a:t>
            </a:r>
            <a:endParaRPr lang="en-US" sz="85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11480" y="233172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1"/>
          <p:cNvGraphicFramePr/>
          <p:nvPr/>
        </p:nvGraphicFramePr>
        <p:xfrm>
          <a:off x="4663440" y="2331720"/>
          <a:ext cx="40690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3: Lahore's 17 confirmed deaths (LHC report) over 3 officially sanctioned days reveal an SOP enforcement failure — not a weather or environmental failure (suitability = 100/100 throughout).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90322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2903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MODALITY: IMAGES &amp; VIDEOS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Metadata — Images (22) and Videos (12)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URL-based metadata · No files downloaded · Systematic label assignment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9222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unique URLs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1155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572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Images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0" y="179222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all images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1155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572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Rawalpindi Images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179222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of all images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0" y="10972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11155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1572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Outlets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0" y="179222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News leads with 5</a:t>
            </a:r>
            <a:endParaRPr lang="en-US" sz="8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1480" y="2148840"/>
          <a:ext cx="41148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4709160" y="2148840"/>
          <a:ext cx="22860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"/>
          <p:cNvGraphicFramePr/>
          <p:nvPr/>
        </p:nvGraphicFramePr>
        <p:xfrm>
          <a:off x="7178040" y="2148840"/>
          <a:ext cx="1554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Shape 21"/>
          <p:cNvSpPr/>
          <p:nvPr/>
        </p:nvSpPr>
        <p:spPr>
          <a:xfrm>
            <a:off x="411480" y="4069080"/>
            <a:ext cx="8321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48640" y="411480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Labelling Limitations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48640" y="43525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time_of_day and police_visible remain 'unknown' for all 22 images — cannot be determined from URL metadata alone. Crowd level labels are rule-based proxies (source outlet + festival date), not manual visual codings.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185166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CITY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vs Rawalpindi — Full Metrics Table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data/processed/city_metrics.csv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8321040" cy="3840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  (Feb 6–8)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Rawalpindi  (Feb 13–15)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— government sanctioned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Unofficial — active 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articles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articles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Volume (collected)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/ Videos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images  /  8 videos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images  /  4 videos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 Total (ind.)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  (injuries + fatalities)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4,472  (law enforcement dominant)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Fatalities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deaths  (LHC report)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confirmed deaths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Kite Seizures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Suitability (avg)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  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Sentiment (mean)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−0.377  (negative)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−0.700  (negative)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Sentiment (mean)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+0.379  (positive)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+0.546  (positive)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3323844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3323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CITY COMPARISON + CROSS-MODAL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Sentiment &amp; Cross-Modal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evidence-based insights across modalities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078992"/>
          <a:ext cx="4206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800600" y="1078992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/>
          <p:cNvGraphicFramePr/>
          <p:nvPr/>
        </p:nvGraphicFramePr>
        <p:xfrm>
          <a:off x="411480" y="3337560"/>
          <a:ext cx="484632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440680" y="3337560"/>
            <a:ext cx="329184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557784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4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577840" y="368503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profiles reflect regulatory context, not celebration scale. Lahore: physical harm (17 deaths, 133 injuries). Rawalpindi: enforcement (4,460 law actions). These are qualitatively incomparable — never sum total incidents across cities.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20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overrepresented (82% news, 77% images) — official status drove asymmetric media coverage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news corpus — Urdu outlets (ARY, Jang) excluded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lexicon has zero Urdu/Roman Urdu coverage — non-English posts default to neutral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labels (time_of_day, police_visible) = 'unknown' — require visual inspection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Rawalpindi physical harm likely underreported due to ban-enforcement 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3127248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only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private groups, no logins required
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usernames stored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posts identified by public URL only
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purpose only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for commercial/surveillance use
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objective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normative judgements on the festival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292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Evidence-Based Insights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3886200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64008" cy="91440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10912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Sentiment tracks incidents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10912" y="1133856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 declined daily in Lahore (−0.40 → +0.30 → −0.67) as incident toll accumulated, reflecting a media framing shift.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856232"/>
            <a:ext cx="3886200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856232"/>
            <a:ext cx="64008" cy="9144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1091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Social ≠ News perspective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2185416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News-social sentiment gap: 0.76 pts (Lahore) and 1.25 pts (Rawalpindi). Banned Pindi celebrations produced the most positive social posts.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907792"/>
            <a:ext cx="3886200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2907792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912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Weather not responsible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10912" y="3236976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city-days scored 100/100 suitability. 17 Lahore deaths were caused by regulatory/behavioural factors, not environmental ones.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3959352"/>
            <a:ext cx="3886200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959352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Incidents reflect regulation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10912" y="4288536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Lahore: physical harm (fatalities + injuries). Rawalpindi: enforcement (4,460 law actions). Qualitatively incomparable — analyse by category.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1085</Words>
  <Application>Microsoft Office PowerPoint</Application>
  <PresentationFormat>On-screen Show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Basant 2026 – Multimodal Event Analysis</dc:title>
  <dc:subject>PptxGenJS Presentation</dc:subject>
  <dc:creator>DS 401 BSDS 02</dc:creator>
  <cp:lastModifiedBy>UKASHA SHAFIQUE</cp:lastModifiedBy>
  <cp:revision>2</cp:revision>
  <dcterms:created xsi:type="dcterms:W3CDTF">2026-05-03T05:41:15Z</dcterms:created>
  <dcterms:modified xsi:type="dcterms:W3CDTF">2026-05-03T05:49:16Z</dcterms:modified>
</cp:coreProperties>
</file>